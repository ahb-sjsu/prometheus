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3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9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518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9901" y="951444"/>
            <a:ext cx="465554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spcAft>
                <a:spcPts val="1200"/>
              </a:spcAft>
              <a:buNone/>
            </a:pPr>
            <a:r>
              <a:rPr lang="en-US" sz="39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Philosophy Engineering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2244227" y="2261295"/>
            <a:ext cx="465554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210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Ethics Testable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44227" y="3015555"/>
            <a:ext cx="465554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Philosophy Meetup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44227" y="3305026"/>
            <a:ext cx="46555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H. Bond • December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1149" y="1634430"/>
            <a:ext cx="51817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hand if you've discussed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981149" y="2091630"/>
            <a:ext cx="51817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spcAft>
                <a:spcPts val="2250"/>
              </a:spcAft>
              <a:buNone/>
            </a:pPr>
            <a:r>
              <a:rPr lang="en-US" sz="48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Trolley Problem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981148" y="3627717"/>
            <a:ext cx="518170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240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it resolve anything?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3000"/>
              </a:spcAft>
              <a:buNone/>
            </a:pPr>
            <a:r>
              <a:rPr lang="en-US" sz="27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Tonight I'll argue: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52500" y="1912739"/>
            <a:ext cx="77724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"Is utilitarianism correct?" might be meaningless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2537520"/>
            <a:ext cx="77724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There's a different question we can actually answer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162300"/>
            <a:ext cx="77724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question matters for AI, law, and real decisions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3787080"/>
            <a:ext cx="77724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answer comes from physics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1648" y="2127945"/>
            <a:ext cx="466055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241648" y="2520255"/>
            <a:ext cx="46605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Liar's Advantage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0902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3000"/>
              </a:spcAft>
              <a:buNone/>
            </a:pPr>
            <a:r>
              <a:rPr lang="en-US" sz="24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Redescription Game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1489918"/>
            <a:ext cx="8001000" cy="1367582"/>
          </a:xfrm>
          <a:prstGeom prst="roundRect">
            <a:avLst>
              <a:gd name="adj" fmla="val 557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8200" y="1718518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REQUEST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38200" y="1981349"/>
            <a:ext cx="761695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 I kill my sister?"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38200" y="2388989"/>
            <a:ext cx="76169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REFUSED (obviously)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3124200"/>
            <a:ext cx="8001000" cy="1367582"/>
          </a:xfrm>
          <a:prstGeom prst="roundRect">
            <a:avLst>
              <a:gd name="adj" fmla="val 557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200" y="3352800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REQUEST, DIFFERENT WORDS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8200" y="3615630"/>
            <a:ext cx="761695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 I help my sister achieve permanent cessation of metabolic function?"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38200" y="4023271"/>
            <a:ext cx="76169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Same situation. Should get same answer.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7878" y="1325910"/>
            <a:ext cx="6388245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spcAft>
                <a:spcPts val="3000"/>
              </a:spcAft>
              <a:buNone/>
            </a:pPr>
            <a:r>
              <a:rPr lang="en-US" sz="30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rule written in language</a:t>
            </a:r>
            <a:endParaRPr lang="en-US" sz="3000" dirty="0"/>
          </a:p>
          <a:p>
            <a:pPr marL="0" indent="0" algn="ctr">
              <a:lnSpc>
                <a:spcPts val="3900"/>
              </a:lnSpc>
              <a:spcAft>
                <a:spcPts val="3000"/>
              </a:spcAft>
              <a:buNone/>
            </a:pPr>
            <a:r>
              <a:rPr lang="en-US" sz="30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be gamed by someone clever enough</a:t>
            </a:r>
            <a:endParaRPr lang="en-US" sz="3000" dirty="0"/>
          </a:p>
          <a:p>
            <a:pPr marL="0" indent="0" algn="ctr">
              <a:lnSpc>
                <a:spcPts val="3900"/>
              </a:lnSpc>
              <a:spcAft>
                <a:spcPts val="3000"/>
              </a:spcAft>
              <a:buNone/>
            </a:pPr>
            <a:r>
              <a:rPr lang="en-US" sz="30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</a:t>
            </a:r>
            <a:endParaRPr lang="en-US" sz="3000" dirty="0"/>
          </a:p>
          <a:p>
            <a:pPr marL="0" indent="0" algn="ctr">
              <a:lnSpc>
                <a:spcPts val="3900"/>
              </a:lnSpc>
              <a:spcAft>
                <a:spcPts val="3000"/>
              </a:spcAft>
              <a:buNone/>
            </a:pPr>
            <a:r>
              <a:rPr lang="en-US" sz="3000" dirty="0">
                <a:solidFill>
                  <a:srgbClr val="E8A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redescribe the situation</a:t>
            </a:r>
            <a:r>
              <a:rPr lang="en-US" sz="30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7877" y="3322087"/>
            <a:ext cx="6388245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 bug in specific rules.</a:t>
            </a:r>
            <a:endParaRPr lang="en-US" sz="1650" dirty="0"/>
          </a:p>
          <a:p>
            <a:pPr marL="0" indent="0" algn="ctr">
              <a:lnSpc>
                <a:spcPts val="231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bug in rule-based thinking.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91135" y="2127945"/>
            <a:ext cx="456173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291135" y="2520255"/>
            <a:ext cx="45617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Wrong Question</a:t>
            </a:r>
            <a:endParaRPr lang="en-US" sz="4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0902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24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ethics asks: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895350"/>
            <a:ext cx="81610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spcBef>
                <a:spcPts val="300"/>
              </a:spcBef>
              <a:spcAft>
                <a:spcPts val="2700"/>
              </a:spcAft>
              <a:buNone/>
            </a:pPr>
            <a:r>
              <a:rPr lang="en-US" sz="300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action morally correct?"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1500" y="2145060"/>
            <a:ext cx="816102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we know?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71500" y="2590800"/>
            <a:ext cx="8001000" cy="11811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Intuition? Yours differs from mine.</a:t>
            </a:r>
            <a:endParaRPr lang="en-US" sz="1350" dirty="0"/>
          </a:p>
          <a:p>
            <a:pPr marL="190500" indent="-1905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Argument? Produces stalemate, not consensus.</a:t>
            </a:r>
            <a:endParaRPr lang="en-US" sz="1350" dirty="0"/>
          </a:p>
          <a:p>
            <a:pPr marL="190500" indent="-1905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Revelation? Not intersubjectively verifiable.</a:t>
            </a:r>
            <a:endParaRPr lang="en-US" sz="1350" dirty="0"/>
          </a:p>
          <a:p>
            <a:pPr marL="190500" indent="-1905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Science? There's no moral spectrometer.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4335810"/>
            <a:ext cx="816102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experiment could decide utilitarianism vs deontology?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8062" y="1384995"/>
            <a:ext cx="4607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a different question: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268062" y="1842195"/>
            <a:ext cx="4607728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spcAft>
                <a:spcPts val="3000"/>
              </a:spcAft>
              <a:buNone/>
            </a:pPr>
            <a:r>
              <a:rPr lang="en-US" sz="3600" dirty="0">
                <a:solidFill>
                  <a:srgbClr val="E8A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this judgment system</a:t>
            </a:r>
            <a:endParaRPr lang="en-US" sz="3600" dirty="0"/>
          </a:p>
          <a:p>
            <a:pPr marL="0" indent="0" algn="ctr">
              <a:lnSpc>
                <a:spcPts val="4680"/>
              </a:lnSpc>
              <a:spcAft>
                <a:spcPts val="3000"/>
              </a:spcAft>
              <a:buNone/>
            </a:pPr>
            <a:r>
              <a:rPr lang="en-US" sz="3600" dirty="0">
                <a:solidFill>
                  <a:srgbClr val="E8A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gameable?"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68062" y="4307218"/>
            <a:ext cx="460772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testable.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9193" y="2127945"/>
            <a:ext cx="5485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829193" y="2520255"/>
            <a:ext cx="548561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Insight from Physics</a:t>
            </a:r>
            <a:endParaRPr lang="en-US" sz="4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51699" y="732660"/>
            <a:ext cx="52406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1800"/>
              </a:spcAft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1905, Einstein noticed: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894943" y="1352399"/>
            <a:ext cx="524060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spcAft>
                <a:spcPts val="2700"/>
              </a:spcAft>
              <a:buNone/>
            </a:pPr>
            <a:r>
              <a:rPr lang="en-US" sz="27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laws of physics shouldn't depend on your coordinate system.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894942" y="3101908"/>
            <a:ext cx="5240601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 measure the speed of light in my lab,</a:t>
            </a:r>
            <a:endParaRPr lang="en-US" sz="1800" dirty="0"/>
          </a:p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 measure it on a moving train,</a:t>
            </a:r>
            <a:endParaRPr lang="en-US" sz="1800" dirty="0"/>
          </a:p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should get the </a:t>
            </a:r>
            <a:endParaRPr lang="en-US" sz="1800" dirty="0"/>
          </a:p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answer</a:t>
            </a: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2989" y="465990"/>
            <a:ext cx="4778204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90"/>
              </a:lnSpc>
              <a:spcAft>
                <a:spcPts val="3000"/>
              </a:spcAft>
              <a:buNone/>
            </a:pPr>
            <a:r>
              <a:rPr lang="en-US" sz="3300" dirty="0">
                <a:solidFill>
                  <a:srgbClr val="E8A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real is what survives</a:t>
            </a:r>
            <a:endParaRPr lang="en-US" sz="3300" dirty="0"/>
          </a:p>
          <a:p>
            <a:pPr marL="0" indent="0" algn="ctr">
              <a:lnSpc>
                <a:spcPts val="4290"/>
              </a:lnSpc>
              <a:spcAft>
                <a:spcPts val="3000"/>
              </a:spcAft>
              <a:buNone/>
            </a:pPr>
            <a:r>
              <a:rPr lang="en-US" sz="3300" dirty="0">
                <a:solidFill>
                  <a:srgbClr val="E8A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transformation.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2182898" y="2544961"/>
            <a:ext cx="4778204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something changes when you just
</a:t>
            </a:r>
            <a:r>
              <a:rPr lang="en-US" sz="195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relabel</a:t>
            </a: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or </a:t>
            </a:r>
            <a:r>
              <a:rPr lang="en-US" sz="195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redescribe</a:t>
            </a: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it,</a:t>
            </a:r>
            <a:endParaRPr lang="en-US" sz="1950" dirty="0"/>
          </a:p>
          <a:p>
            <a:pPr marL="0" indent="0" algn="ctr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thing was never real—</a:t>
            </a:r>
            <a:endParaRPr lang="en-US" sz="1950" dirty="0"/>
          </a:p>
          <a:p>
            <a:pPr marL="0" indent="0" algn="ctr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an artifact of your description.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4010" y="675378"/>
            <a:ext cx="531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1800"/>
              </a:spcAft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this to moral judgments: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856082" y="1325180"/>
            <a:ext cx="5318325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2700"/>
              </a:spcAft>
              <a:buNone/>
            </a:pPr>
            <a:r>
              <a:rPr lang="en-US" sz="24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your ethical verdict changes</a:t>
            </a:r>
            <a:endParaRPr lang="en-US" sz="2400" dirty="0"/>
          </a:p>
          <a:p>
            <a:pPr marL="0" indent="0" algn="ctr">
              <a:lnSpc>
                <a:spcPts val="3360"/>
              </a:lnSpc>
              <a:spcAft>
                <a:spcPts val="2700"/>
              </a:spcAft>
              <a:buNone/>
            </a:pPr>
            <a:r>
              <a:rPr lang="en-US" sz="24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someone </a:t>
            </a:r>
            <a:endParaRPr lang="en-US" sz="2400" dirty="0"/>
          </a:p>
          <a:p>
            <a:pPr marL="0" indent="0" algn="ctr">
              <a:lnSpc>
                <a:spcPts val="3360"/>
              </a:lnSpc>
              <a:spcAft>
                <a:spcPts val="2700"/>
              </a:spcAft>
              <a:buNone/>
            </a:pPr>
            <a:r>
              <a:rPr lang="en-US" sz="2400" dirty="0">
                <a:solidFill>
                  <a:srgbClr val="E8A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paraphrases</a:t>
            </a:r>
            <a:r>
              <a:rPr lang="en-US" sz="24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situation—</a:t>
            </a:r>
            <a:endParaRPr lang="en-US" sz="2400" dirty="0"/>
          </a:p>
          <a:p>
            <a:pPr marL="0" indent="0" algn="ctr">
              <a:lnSpc>
                <a:spcPts val="3360"/>
              </a:lnSpc>
              <a:spcAft>
                <a:spcPts val="2700"/>
              </a:spcAft>
              <a:buNone/>
            </a:pPr>
            <a:r>
              <a:rPr lang="en-US" sz="24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facts, different words—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34910" y="4143799"/>
            <a:ext cx="531832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your verdict wasn't about the situation.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34010" y="3281210"/>
            <a:ext cx="531832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about the words.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8100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Tests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6250" y="838200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properties with pass/fail criteria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6250" y="2215455"/>
            <a:ext cx="4019550" cy="805755"/>
          </a:xfrm>
          <a:prstGeom prst="roundRect">
            <a:avLst>
              <a:gd name="adj" fmla="val 945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5300" y="2215455"/>
            <a:ext cx="0" cy="805755"/>
          </a:xfrm>
          <a:prstGeom prst="line">
            <a:avLst/>
          </a:prstGeom>
          <a:noFill/>
          <a:ln w="38100">
            <a:solidFill>
              <a:srgbClr val="E8A9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6750" y="2405955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CONSISTENCY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66750" y="2644080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judgment for equivalent situations?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6250" y="3135511"/>
            <a:ext cx="4019550" cy="805755"/>
          </a:xfrm>
          <a:prstGeom prst="roundRect">
            <a:avLst>
              <a:gd name="adj" fmla="val 945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5300" y="3135511"/>
            <a:ext cx="0" cy="805755"/>
          </a:xfrm>
          <a:prstGeom prst="line">
            <a:avLst/>
          </a:prstGeom>
          <a:noFill/>
          <a:ln w="38100">
            <a:solidFill>
              <a:srgbClr val="E8A9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750" y="3326011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NON-GAMEABILITY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66750" y="3564136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adversary flip verdict via redescription?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48200" y="2215455"/>
            <a:ext cx="4019550" cy="805755"/>
          </a:xfrm>
          <a:prstGeom prst="roundRect">
            <a:avLst>
              <a:gd name="adj" fmla="val 945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67250" y="2215455"/>
            <a:ext cx="0" cy="805755"/>
          </a:xfrm>
          <a:prstGeom prst="line">
            <a:avLst/>
          </a:prstGeom>
          <a:noFill/>
          <a:ln w="38100">
            <a:solidFill>
              <a:srgbClr val="E8A9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8700" y="2405955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ACCOUNTABILITY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838700" y="2644080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Differences traceable to real factors?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48200" y="3135511"/>
            <a:ext cx="4019550" cy="805755"/>
          </a:xfrm>
          <a:prstGeom prst="roundRect">
            <a:avLst>
              <a:gd name="adj" fmla="val 945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0" y="3135511"/>
            <a:ext cx="0" cy="805755"/>
          </a:xfrm>
          <a:prstGeom prst="line">
            <a:avLst/>
          </a:prstGeom>
          <a:noFill/>
          <a:ln w="38100">
            <a:solidFill>
              <a:srgbClr val="E8A9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38700" y="3326011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NON-TRIVIALITY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4838700" y="3564136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distinguishes different situations?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81000"/>
            <a:ext cx="45177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500"/>
              </a:spcAft>
              <a:buNone/>
            </a:pPr>
            <a:r>
              <a:rPr lang="en-US" sz="225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system fails, you get a </a:t>
            </a:r>
            <a:r>
              <a:rPr lang="en-US" sz="2250" dirty="0">
                <a:solidFill>
                  <a:srgbClr val="E8A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witness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76250" y="1321296"/>
            <a:ext cx="8191500" cy="958007"/>
          </a:xfrm>
          <a:prstGeom prst="roundRect">
            <a:avLst>
              <a:gd name="adj" fmla="val 5966"/>
            </a:avLst>
          </a:prstGeom>
          <a:solidFill>
            <a:srgbClr val="0A2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7700" y="1492746"/>
            <a:ext cx="80055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4A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7700" y="1690836"/>
            <a:ext cx="80055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"Should I help my elderly neighbor carry groceries?"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7700" y="1934617"/>
            <a:ext cx="80055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44A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Yes, help them. ✓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76250" y="2393603"/>
            <a:ext cx="8191500" cy="958007"/>
          </a:xfrm>
          <a:prstGeom prst="roundRect">
            <a:avLst>
              <a:gd name="adj" fmla="val 5966"/>
            </a:avLst>
          </a:prstGeom>
          <a:solidFill>
            <a:srgbClr val="2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7700" y="2565053"/>
            <a:ext cx="80055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A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B (same meaning):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7700" y="2763143"/>
            <a:ext cx="80055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"Should I assist an aged residential proximate person in transporting nutritional commodities?"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7700" y="3006923"/>
            <a:ext cx="80055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AA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[Different answer / Confused] ✗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6250" y="3465909"/>
            <a:ext cx="8191500" cy="581025"/>
          </a:xfrm>
          <a:prstGeom prst="roundRect">
            <a:avLst>
              <a:gd name="adj" fmla="val 9836"/>
            </a:avLst>
          </a:prstGeom>
          <a:solidFill>
            <a:srgbClr val="2A2A0A"/>
          </a:solidFill>
          <a:ln w="19050">
            <a:solidFill>
              <a:srgbClr val="E8A92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6750" y="3656409"/>
            <a:ext cx="7966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WITNESS FOUND — System is exploitable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76250" y="4199334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a philosophical debate. That's a </a:t>
            </a: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report</a:t>
            </a: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9408" y="2127945"/>
            <a:ext cx="446518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339408" y="2520255"/>
            <a:ext cx="446518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Rules to Walls</a:t>
            </a:r>
            <a:endParaRPr lang="en-US" sz="4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0902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spcAft>
                <a:spcPts val="2100"/>
              </a:spcAft>
              <a:buNone/>
            </a:pPr>
            <a:r>
              <a:rPr lang="en-US" sz="255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Rules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71500" y="1849785"/>
            <a:ext cx="816102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ethics gives us rules: "Don't lie. Don't steal. Maximize happiness."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71500" y="2371725"/>
            <a:ext cx="816102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have a problem: they can be </a:t>
            </a:r>
            <a:r>
              <a:rPr lang="en-US" sz="165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outweighed</a:t>
            </a:r>
            <a:r>
              <a:rPr lang="en-US" sz="16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71500" y="2855565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3084165"/>
            <a:ext cx="7694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"Yes, lying is wrong, but in THIS case the consequences are so good that..."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500" y="376996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rule, given enough pressure, can be bent.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5427" y="1348680"/>
            <a:ext cx="403314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300"/>
              </a:spcBef>
              <a:spcAft>
                <a:spcPts val="1800"/>
              </a:spcAft>
              <a:buNone/>
            </a:pPr>
            <a:r>
              <a:rPr lang="en-US" sz="1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an alternative to rules: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561588" y="1870621"/>
            <a:ext cx="202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Aft>
                <a:spcPts val="2700"/>
              </a:spcAft>
              <a:buNone/>
            </a:pPr>
            <a:r>
              <a:rPr lang="en-US" sz="5400" dirty="0">
                <a:solidFill>
                  <a:srgbClr val="E8A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555427" y="2899321"/>
            <a:ext cx="403314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 says "you shouldn't go there."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555427" y="3423196"/>
            <a:ext cx="403314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25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wall means you </a:t>
            </a:r>
            <a:r>
              <a:rPr lang="en-US" sz="195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</a:t>
            </a: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 there.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5760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2100"/>
              </a:spcAft>
              <a:buNone/>
            </a:pPr>
            <a:r>
              <a:rPr lang="en-US" sz="24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Topology: The Shape of the Possible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1502271"/>
            <a:ext cx="816102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the space of all possible actions as a landscape.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71500" y="2157561"/>
            <a:ext cx="3867150" cy="1540818"/>
          </a:xfrm>
          <a:prstGeom prst="roundRect">
            <a:avLst>
              <a:gd name="adj" fmla="val 494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7139" y="2386161"/>
            <a:ext cx="35558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7139" y="2675632"/>
            <a:ext cx="3555873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up signs:</a:t>
            </a:r>
            <a:endParaRPr lang="en-US" sz="1350" dirty="0"/>
          </a:p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"Don't go to the Bad Zone"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27139" y="3269754"/>
            <a:ext cx="3555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(can be ignored)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667250" y="2138511"/>
            <a:ext cx="3905250" cy="1578918"/>
          </a:xfrm>
          <a:prstGeom prst="roundRect">
            <a:avLst>
              <a:gd name="adj" fmla="val 4826"/>
            </a:avLst>
          </a:prstGeom>
          <a:solidFill>
            <a:srgbClr val="1A1A1A"/>
          </a:solidFill>
          <a:ln w="19050">
            <a:solidFill>
              <a:srgbClr val="E8A92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41939" y="2386161"/>
            <a:ext cx="35558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1939" y="2675632"/>
            <a:ext cx="3555873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up cliffs—</a:t>
            </a:r>
            <a:endParaRPr lang="en-US" sz="1350" dirty="0"/>
          </a:p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path there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41939" y="3269754"/>
            <a:ext cx="3555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(geometrically impossible)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71500" y="4098429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AI: the forbidden command </a:t>
            </a:r>
            <a:r>
              <a:rPr lang="en-US" sz="150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reaches the actuators</a:t>
            </a: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7202" y="1137345"/>
            <a:ext cx="51895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2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free will,</a:t>
            </a:r>
            <a:endParaRPr lang="en-US" sz="2100" dirty="0"/>
          </a:p>
          <a:p>
            <a:pPr marL="0" indent="0" algn="ctr">
              <a:lnSpc>
                <a:spcPts val="315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2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you can't fly by flapping your arms.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77202" y="2242245"/>
            <a:ext cx="518959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oppression—</a:t>
            </a:r>
            <a:endParaRPr lang="en-US" sz="1800" dirty="0"/>
          </a:p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just the shape of the world.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77202" y="3263205"/>
            <a:ext cx="518959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make AI systems where certain harms</a:t>
            </a:r>
            <a:endParaRPr lang="en-US" sz="1950" dirty="0"/>
          </a:p>
          <a:p>
            <a:pPr marL="0" indent="0" algn="ctr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like that: not forbidden, just </a:t>
            </a:r>
            <a:endParaRPr lang="en-US" sz="1950" dirty="0"/>
          </a:p>
          <a:p>
            <a:pPr marL="0" indent="0" algn="ctr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</a:t>
            </a: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81000"/>
            <a:ext cx="41873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255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Keeping It Honest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76250" y="2022277"/>
            <a:ext cx="404164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AA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DOESN'T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476250" y="2420392"/>
            <a:ext cx="40416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you which values to have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250" y="2805113"/>
            <a:ext cx="40416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utilitarianism right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" y="3189833"/>
            <a:ext cx="40416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"ought" from "is"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250" y="3574554"/>
            <a:ext cx="40416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all AI alignment problems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5350" y="2022277"/>
            <a:ext cx="404164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44A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DOES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4705350" y="2420392"/>
            <a:ext cx="40416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you when a system is gameable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5350" y="2805113"/>
            <a:ext cx="40416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you witnesses—proofs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5350" y="3189833"/>
            <a:ext cx="40416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engineering tools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5350" y="3574554"/>
            <a:ext cx="40416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testable from contested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0902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spcAft>
                <a:spcPts val="2100"/>
              </a:spcAft>
              <a:buNone/>
            </a:pPr>
            <a:r>
              <a:rPr lang="en-US" sz="255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Philosophy as Engineering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71500" y="1655564"/>
            <a:ext cx="39250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(2,500 years)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500" y="2059335"/>
            <a:ext cx="392506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Propose a thesis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571500" y="2438400"/>
            <a:ext cx="392506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Construct arguments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571500" y="2817465"/>
            <a:ext cx="392506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Consider objections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71500" y="3196530"/>
            <a:ext cx="392506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Refine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571500" y="3575596"/>
            <a:ext cx="392506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Repeat indefinitely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571500" y="4030861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25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more arguments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724400" y="1655564"/>
            <a:ext cx="39250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(now)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4400" y="2059335"/>
            <a:ext cx="392506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Define the system formally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4724400" y="2438400"/>
            <a:ext cx="392506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Build it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4724400" y="2817465"/>
            <a:ext cx="392506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Test it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4724400" y="3196530"/>
            <a:ext cx="392506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When tests fail → bug report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4724400" y="3575596"/>
            <a:ext cx="392506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Fix the bug, repeat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4724400" y="4030861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25" i="1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working systems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1942" y="1089868"/>
            <a:ext cx="578011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can't test whether ethics is </a:t>
            </a:r>
            <a:r>
              <a:rPr lang="en-US" sz="195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81942" y="1626989"/>
            <a:ext cx="578011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test whether ethical systems are </a:t>
            </a:r>
            <a:r>
              <a:rPr lang="en-US" sz="195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gameable</a:t>
            </a:r>
            <a:r>
              <a:rPr lang="en-US" sz="19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681942" y="2278410"/>
            <a:ext cx="578011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 fail, we get witnesses—</a:t>
            </a:r>
            <a:endParaRPr lang="en-US" sz="1800" dirty="0"/>
          </a:p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proofs.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81942" y="3299371"/>
            <a:ext cx="578011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everything.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681942" y="3707011"/>
            <a:ext cx="578011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after 2,500 years of stalemate, it's something.</a:t>
            </a:r>
            <a:endParaRPr lang="en-US" sz="1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81000"/>
            <a:ext cx="41873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spcAft>
                <a:spcPts val="1800"/>
              </a:spcAft>
              <a:buNone/>
            </a:pPr>
            <a:r>
              <a:rPr lang="en-US" sz="255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76250" y="1745159"/>
            <a:ext cx="8355330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25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142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 this feel like progress, or like giving up on the "real" questions?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476250" y="2208014"/>
            <a:ext cx="8355330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25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142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two systems are both consistent but disagree, how do we choose?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476250" y="2670870"/>
            <a:ext cx="8355330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25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142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"non-gameable" actually what we want? Some moral progress came from finding "loopholes" in previous systems.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476250" y="3387030"/>
            <a:ext cx="8355330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25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142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humans pass these tests?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476250" y="3849886"/>
            <a:ext cx="8355330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25" dirty="0">
                <a:solidFill>
                  <a:srgbClr val="E8A9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r>
              <a:rPr lang="en-US" sz="142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something lost when we treat ethics as engineering?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5254</TotalTime>
  <Words>930</Words>
  <Application>Microsoft Office PowerPoint</Application>
  <PresentationFormat>On-screen Show (16:9)</PresentationFormat>
  <Paragraphs>171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Philosophy Engineering: Making Ethics Testable</dc:title>
  <dc:subject>San Jose Philosophy Meetup</dc:subject>
  <dc:creator>Andrew H. Bond</dc:creator>
  <cp:lastModifiedBy>Andrew Bond</cp:lastModifiedBy>
  <cp:revision>3</cp:revision>
  <dcterms:created xsi:type="dcterms:W3CDTF">2025-12-24T21:27:42Z</dcterms:created>
  <dcterms:modified xsi:type="dcterms:W3CDTF">2025-12-31T22:50:04Z</dcterms:modified>
</cp:coreProperties>
</file>